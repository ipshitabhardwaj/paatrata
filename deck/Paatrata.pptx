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4e32a99-3dd3-b88e-0344-25bd3aa97d8c}">
          <p14:sldIdLst>
            <p14:sldId id="256"/>
          </p14:sldIdLst>
        </p14:section>
        <p14:section name="Problem" id="{8e7bebd1-a188-f0de-35ea-ec033a9f684f}">
          <p14:sldIdLst>
            <p14:sldId id="257"/>
            <p14:sldId id="258"/>
          </p14:sldIdLst>
        </p14:section>
        <p14:section name="Solution" id="{8070ad97-3f9b-5755-b93c-877715aa17ac}">
          <p14:sldIdLst>
            <p14:sldId id="259"/>
            <p14:sldId id="260"/>
            <p14:sldId id="261"/>
          </p14:sldIdLst>
        </p14:section>
        <p14:section name="Technology" id="{15668731-da7e-a359-bb3d-87c46fc4e071}">
          <p14:sldIdLst>
            <p14:sldId id="262"/>
            <p14:sldId id="263"/>
          </p14:sldIdLst>
        </p14:section>
        <p14:section name="Evidence" id="{2ce6b895-e3dc-f008-8508-388cffd49cf4}">
          <p14:sldIdLst>
            <p14:sldId id="264"/>
            <p14:sldId id="265"/>
          </p14:sldIdLst>
        </p14:section>
        <p14:section name="Close" id="{ff7edb92-bd4f-03a1-288a-fb9bf5f99ac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Paatrata means eligibility. We built a compiler for welfare-scheme rules: Gemini reads the notification once, an officer approves, and plain code answers every applicant the same way with the clause it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notification is prose. Portals, Sampark counters, helpdesks and chatbots each turn it into their own logic. The result: inconsistent answers, no traceability, silent guesses on ambiguous wording, and slow updates when a circular changes a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Chandigarh is a sharp case: as a Union Territory it administers its own pensions and child schemes beside central ones. We compiled six of them. Nationally, one provider lists more than five thousand schemes, so the document-to-rules bottleneck repeats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another scheme chatbot. A chatbot asks the model every time. Paatrata compiles once, then code decides, so answers are identical, cited, and ambiguity becomes an explicit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Blue is Google AI, grey is code, ochre is the officer, green is the deterministic decision. Note that AI never makes the decision; it only reads and questions the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officer screen. Conditions on the left, the source document on the right with each quote highlighted; an ambiguity question blocks approval; a hallucinated condition was rejected because its quote is not in the document. Right: the citizen check. Not eligible, because income is above 1.5 lakh, with the clause highlighted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paths. Authoring uses Gemini or Gemma, then code validates, Gemini reviews, an officer approves into a versioned rulebook. The query path has no AI at all: a deterministic evaluator returns the verdict with citations; Gemini only rewords it into Hindi or Punjabi and must echo the same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does the hard language work and it is measurable. Gemma 4 gives an open-weight path for departments that cannot send documents outside. For the bonus: an Agent Skill, a reusable library, and an evaluation harness, all Apache-2.0.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uses the same Gemini model and the same documents; the only difference is asking every time versus compiling once. We report extraction F1, verified quotes, decision accuracy and consistency, with honest caveats: synthetic applicants and team-labelled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Deployability: a department uploads notifications it already publishes; officers approve; the rules are served by an API. No government integration needed for a pilot. Scale: nothing in the engine is Chandigarh-specific.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finale: circular delta, official notifications, measured Gemma results, and full Hindi and Punjabi. The core idea in one line: the model reads once; code decides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Paatrata  |  team clawops  |  Code for Communities Chandigarh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Paatrata  |  team clawops  |  Code for Communities Chandigarh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C1B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inal illustration of a concrete civic building in Chandigarh with the word Paatrata in Devanagari over its roo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py panel"/>
          <p:cNvSpPr/>
          <p:nvPr/>
        </p:nvSpPr>
        <p:spPr>
          <a:xfrm>
            <a:off x="0" y="0"/>
            <a:ext cx="4343400" cy="5143500"/>
          </a:xfrm>
          <a:prstGeom prst="rect">
            <a:avLst/>
          </a:prstGeom>
          <a:solidFill>
            <a:srgbClr val="E8E6E1">
              <a:alpha val="94000"/>
            </a:srgbClr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" name="red mark"/>
          <p:cNvSpPr/>
          <p:nvPr/>
        </p:nvSpPr>
        <p:spPr>
          <a:xfrm>
            <a:off x="502920" y="566928"/>
            <a:ext cx="164592" cy="164592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30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welfare schemes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C23B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Paatrata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spc="-10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Welfare rules anyone can check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906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03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reads a scheme's notification once. An officer approves the rules. Code answers every applicant the same way, citing the clause.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931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clawops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Veydant Bhardwaj  ·  Ipshita Bhardwaj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AI for Digital Public Infrastructure of Chandigarh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Best Open-Source AI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Eligibility rules exist only as prose, and every channel re-reads them by hand</a:t>
            </a:r>
            <a:endParaRPr lang="en-US" sz="2000" dirty="0"/>
          </a:p>
        </p:txBody>
      </p:sp>
      <p:sp>
        <p:nvSpPr>
          <p:cNvPr id="3" name="notice paper"/>
          <p:cNvSpPr/>
          <p:nvPr/>
        </p:nvSpPr>
        <p:spPr>
          <a:xfrm>
            <a:off x="457200" y="1234440"/>
            <a:ext cx="3566160" cy="2331720"/>
          </a:xfrm>
          <a:prstGeom prst="rect">
            <a:avLst/>
          </a:prstGeom>
          <a:solidFill>
            <a:srgbClr val="FBFAF6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Age Pension, Chandigarh: eligibility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highlight>
                  <a:srgbClr val="F5D77E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family annual income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applicant should not exceed Rs. 1,50,000.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The applicant should be 60 years of age or above.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… residing in Chandigarh UT for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highlight>
                  <a:srgbClr val="F5D77E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more than 3 years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"family"? Is 3 years enough? Each channel decides on its own.</a:t>
            </a:r>
            <a:endParaRPr lang="en-US" sz="1100" dirty="0"/>
          </a:p>
        </p:txBody>
      </p:sp>
      <p:sp>
        <p:nvSpPr>
          <p:cNvPr id="7" name="failure 1"/>
          <p:cNvSpPr/>
          <p:nvPr/>
        </p:nvSpPr>
        <p:spPr>
          <a:xfrm>
            <a:off x="4343400" y="1234440"/>
            <a:ext cx="2103120" cy="1353312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8" name="fails mark"/>
          <p:cNvSpPr/>
          <p:nvPr/>
        </p:nvSpPr>
        <p:spPr>
          <a:xfrm>
            <a:off x="4507992" y="1435608"/>
            <a:ext cx="146304" cy="146304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389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drift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17830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channels, or one chatbot asked twice, give different verdicts for the same person.</a:t>
            </a:r>
            <a:endParaRPr lang="en-US" sz="1050" dirty="0"/>
          </a:p>
        </p:txBody>
      </p:sp>
      <p:sp>
        <p:nvSpPr>
          <p:cNvPr id="11" name="failure 2"/>
          <p:cNvSpPr/>
          <p:nvPr/>
        </p:nvSpPr>
        <p:spPr>
          <a:xfrm>
            <a:off x="6583680" y="1234440"/>
            <a:ext cx="2103120" cy="1353312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12" name="fails mark"/>
          <p:cNvSpPr/>
          <p:nvPr/>
        </p:nvSpPr>
        <p:spPr>
          <a:xfrm>
            <a:off x="6748272" y="1435608"/>
            <a:ext cx="146304" cy="146304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389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clause behind it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17830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citizen told "not eligible" rarely learns which clause decided it.</a:t>
            </a:r>
            <a:endParaRPr lang="en-US" sz="1050" dirty="0"/>
          </a:p>
        </p:txBody>
      </p:sp>
      <p:sp>
        <p:nvSpPr>
          <p:cNvPr id="15" name="failure 3"/>
          <p:cNvSpPr/>
          <p:nvPr/>
        </p:nvSpPr>
        <p:spPr>
          <a:xfrm>
            <a:off x="4343400" y="2697480"/>
            <a:ext cx="2103120" cy="1353312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16" name="fails mark"/>
          <p:cNvSpPr/>
          <p:nvPr/>
        </p:nvSpPr>
        <p:spPr>
          <a:xfrm>
            <a:off x="4507992" y="2898648"/>
            <a:ext cx="146304" cy="146304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852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Guesses stay hidden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324612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terms and unclear ranges are interpreted silently and never recorded.</a:t>
            </a:r>
            <a:endParaRPr lang="en-US" sz="1050" dirty="0"/>
          </a:p>
        </p:txBody>
      </p:sp>
      <p:sp>
        <p:nvSpPr>
          <p:cNvPr id="19" name="failure 4"/>
          <p:cNvSpPr/>
          <p:nvPr/>
        </p:nvSpPr>
        <p:spPr>
          <a:xfrm>
            <a:off x="6583680" y="2697480"/>
            <a:ext cx="2103120" cy="1353312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20" name="fails mark"/>
          <p:cNvSpPr/>
          <p:nvPr/>
        </p:nvSpPr>
        <p:spPr>
          <a:xfrm>
            <a:off x="6748272" y="2898648"/>
            <a:ext cx="146304" cy="146304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2852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go stale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324612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circular changes a limit; every downstream copy must be found and fixed by hand.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Chandigarh runs two rulebooks, and every state has the same problem</a:t>
            </a:r>
            <a:endParaRPr lang="en-US" sz="2000" dirty="0"/>
          </a:p>
        </p:txBody>
      </p:sp>
      <p:pic>
        <p:nvPicPr>
          <p:cNvPr id="3" name="Image 0" descr="Palace of Assembly, Chandigarh, reflected in its po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931920" cy="2971800"/>
          </a:xfrm>
          <a:prstGeom prst="rect">
            <a:avLst/>
          </a:prstGeom>
        </p:spPr>
      </p:pic>
      <p:sp>
        <p:nvSpPr>
          <p:cNvPr id="4" name="photo credit"/>
          <p:cNvSpPr txBox="1"/>
          <p:nvPr/>
        </p:nvSpPr>
        <p:spPr>
          <a:xfrm>
            <a:off x="45720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Palace of Assembly, Chandigarh. Photo: duncid, CC BY-SA 2.0, via Wikimedia Commons</a:t>
            </a:r>
            <a:endParaRPr lang="en-US" sz="800" dirty="0"/>
          </a:p>
        </p:txBody>
      </p:sp>
      <p:sp>
        <p:nvSpPr>
          <p:cNvPr id="5" name="square"/>
          <p:cNvSpPr/>
          <p:nvPr/>
        </p:nvSpPr>
        <p:spPr>
          <a:xfrm>
            <a:off x="4709160" y="1243584"/>
            <a:ext cx="146304" cy="14630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8348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schemes + central schemes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14813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 administration runs its own pensions and child-support schemes next to central ones.</a:t>
            </a:r>
            <a:endParaRPr lang="en-US" sz="1050" dirty="0"/>
          </a:p>
        </p:txBody>
      </p:sp>
      <p:sp>
        <p:nvSpPr>
          <p:cNvPr id="8" name="square"/>
          <p:cNvSpPr/>
          <p:nvPr/>
        </p:nvSpPr>
        <p:spPr>
          <a:xfrm>
            <a:off x="4709160" y="2112264"/>
            <a:ext cx="146304" cy="1463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2057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schemes, 30 conditions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3500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Chandigarh schemes already compiled into Paatrata's rulebook, each condition tied to its sentence.</a:t>
            </a:r>
            <a:endParaRPr lang="en-US" sz="1050" dirty="0"/>
          </a:p>
        </p:txBody>
      </p:sp>
      <p:sp>
        <p:nvSpPr>
          <p:cNvPr id="11" name="square"/>
          <p:cNvSpPr/>
          <p:nvPr/>
        </p:nvSpPr>
        <p:spPr>
          <a:xfrm>
            <a:off x="4709160" y="2980944"/>
            <a:ext cx="146304" cy="146304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schemes across India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32186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by one provider alone (Haqdarshak, via NITI Aayog Frontier Tech). The same bottleneck repeats in every state.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886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  </a:t>
            </a:r>
            <a:pPr indent="0" marL="0">
              <a:buNone/>
            </a:pPr>
            <a:r>
              <a:rPr lang="en-US" sz="105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officers · Sampark / e-District operators · Citizens · Portal builders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C1B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tools answer citizens; nobody verifies the rules they run on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scheme chatbot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Paatrata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the model runs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every question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Once per document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decides eligibility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model, each time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code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question twice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differ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identical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this answer?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Free-text reasoning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clause, page and quote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Unclear wording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Silently guessed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question that blocks approval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applicant facts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guessed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"Needs information", naming the fact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changes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Re-prompt and hope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version, re-run boundary tests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myScheme, Haqdarshak and Indus Action's eligibility engines do discovery well. Paatrata works one step upstream: document → verified, executable rules.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Compile once. Decide with code</a:t>
            </a:r>
            <a:endParaRPr lang="en-US" sz="2000" dirty="0"/>
          </a:p>
        </p:txBody>
      </p:sp>
      <p:sp>
        <p:nvSpPr>
          <p:cNvPr id="3" name="step 1"/>
          <p:cNvSpPr/>
          <p:nvPr/>
        </p:nvSpPr>
        <p:spPr>
          <a:xfrm>
            <a:off x="457200" y="1325880"/>
            <a:ext cx="1517904" cy="2606040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4" name="step number block"/>
          <p:cNvSpPr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extracts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68880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clause becomes field, operator, value, verbatim quote, page, and a question if unclear.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3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</a:t>
            </a:r>
            <a:endParaRPr lang="en-US" sz="900" dirty="0"/>
          </a:p>
        </p:txBody>
      </p:sp>
      <p:sp>
        <p:nvSpPr>
          <p:cNvPr id="9" name="arrow"/>
          <p:cNvSpPr/>
          <p:nvPr/>
        </p:nvSpPr>
        <p:spPr>
          <a:xfrm>
            <a:off x="2007108" y="2514600"/>
            <a:ext cx="91440" cy="182880"/>
          </a:xfrm>
          <a:prstGeom prst="rtTriangle">
            <a:avLst/>
          </a:prstGeom>
          <a:solidFill>
            <a:srgbClr val="5A5F66"/>
          </a:solidFill>
          <a:ln w="12700">
            <a:solidFill>
              <a:srgbClr val="5A5F66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2130552" y="1325880"/>
            <a:ext cx="1517904" cy="2606040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11" name="step number block"/>
          <p:cNvSpPr/>
          <p:nvPr/>
        </p:nvSpPr>
        <p:spPr>
          <a:xfrm>
            <a:off x="2267712" y="1490472"/>
            <a:ext cx="384048" cy="384048"/>
          </a:xfrm>
          <a:prstGeom prst="rect">
            <a:avLst/>
          </a:prstGeom>
          <a:solidFill>
            <a:srgbClr val="22262B"/>
          </a:solidFill>
          <a:ln w="12700">
            <a:solidFill>
              <a:srgbClr val="22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67712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validates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468880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any condition whose quote is not in the document; parses ₹1.5 lakh → 150000.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6118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16" name="arrow"/>
          <p:cNvSpPr/>
          <p:nvPr/>
        </p:nvSpPr>
        <p:spPr>
          <a:xfrm>
            <a:off x="3680460" y="2514600"/>
            <a:ext cx="91440" cy="182880"/>
          </a:xfrm>
          <a:prstGeom prst="rtTriangle">
            <a:avLst/>
          </a:prstGeom>
          <a:solidFill>
            <a:srgbClr val="5A5F66"/>
          </a:solidFill>
          <a:ln w="12700">
            <a:solidFill>
              <a:srgbClr val="5A5F66"/>
            </a:solidFill>
            <a:prstDash val="solid"/>
          </a:ln>
        </p:spPr>
      </p:sp>
      <p:sp>
        <p:nvSpPr>
          <p:cNvPr id="17" name="step 3"/>
          <p:cNvSpPr/>
          <p:nvPr/>
        </p:nvSpPr>
        <p:spPr>
          <a:xfrm>
            <a:off x="3803904" y="1325880"/>
            <a:ext cx="1517904" cy="2606040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18" name="step number block"/>
          <p:cNvSpPr/>
          <p:nvPr/>
        </p:nvSpPr>
        <p:spPr>
          <a:xfrm>
            <a:off x="3941064" y="1490472"/>
            <a:ext cx="384048" cy="384048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41064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41064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reviews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41064" y="2468880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pass finds missing, misread and ambiguous conditions, each quoted.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41064" y="36118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3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</a:t>
            </a:r>
            <a:endParaRPr lang="en-US" sz="900" dirty="0"/>
          </a:p>
        </p:txBody>
      </p:sp>
      <p:sp>
        <p:nvSpPr>
          <p:cNvPr id="23" name="arrow"/>
          <p:cNvSpPr/>
          <p:nvPr/>
        </p:nvSpPr>
        <p:spPr>
          <a:xfrm>
            <a:off x="5353812" y="2514600"/>
            <a:ext cx="91440" cy="182880"/>
          </a:xfrm>
          <a:prstGeom prst="rtTriangle">
            <a:avLst/>
          </a:prstGeom>
          <a:solidFill>
            <a:srgbClr val="5A5F66"/>
          </a:solidFill>
          <a:ln w="12700">
            <a:solidFill>
              <a:srgbClr val="5A5F66"/>
            </a:solidFill>
            <a:prstDash val="solid"/>
          </a:ln>
        </p:spPr>
      </p:sp>
      <p:sp>
        <p:nvSpPr>
          <p:cNvPr id="24" name="step 4"/>
          <p:cNvSpPr/>
          <p:nvPr/>
        </p:nvSpPr>
        <p:spPr>
          <a:xfrm>
            <a:off x="5477256" y="1325880"/>
            <a:ext cx="1517904" cy="2606040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25" name="step number block"/>
          <p:cNvSpPr/>
          <p:nvPr/>
        </p:nvSpPr>
        <p:spPr>
          <a:xfrm>
            <a:off x="5614416" y="1490472"/>
            <a:ext cx="384048" cy="38404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14416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approves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14416" y="2468880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question, checks boundary tests, approves a version.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14416" y="36118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0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900" dirty="0"/>
          </a:p>
        </p:txBody>
      </p:sp>
      <p:sp>
        <p:nvSpPr>
          <p:cNvPr id="30" name="arrow"/>
          <p:cNvSpPr/>
          <p:nvPr/>
        </p:nvSpPr>
        <p:spPr>
          <a:xfrm>
            <a:off x="7027164" y="2514600"/>
            <a:ext cx="91440" cy="182880"/>
          </a:xfrm>
          <a:prstGeom prst="rtTriangle">
            <a:avLst/>
          </a:prstGeom>
          <a:solidFill>
            <a:srgbClr val="5A5F66"/>
          </a:solidFill>
          <a:ln w="12700">
            <a:solidFill>
              <a:srgbClr val="5A5F66"/>
            </a:solidFill>
            <a:prstDash val="solid"/>
          </a:ln>
        </p:spPr>
      </p:sp>
      <p:sp>
        <p:nvSpPr>
          <p:cNvPr id="31" name="step 5"/>
          <p:cNvSpPr/>
          <p:nvPr/>
        </p:nvSpPr>
        <p:spPr>
          <a:xfrm>
            <a:off x="7150608" y="1325880"/>
            <a:ext cx="1517904" cy="2606040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32" name="step number block"/>
          <p:cNvSpPr/>
          <p:nvPr/>
        </p:nvSpPr>
        <p:spPr>
          <a:xfrm>
            <a:off x="7287768" y="1490472"/>
            <a:ext cx="384048" cy="3840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87768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87768" y="20116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decides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287768" y="2468880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Eligible, Not eligible or Needs information, with the clause for every condition.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287768" y="36118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once. Every answer after that comes from officer-approved rules run by plain, testable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prototype: every condition sits beside its sentence</a:t>
            </a:r>
            <a:endParaRPr lang="en-US" sz="2000" dirty="0"/>
          </a:p>
        </p:txBody>
      </p:sp>
      <p:pic>
        <p:nvPicPr>
          <p:cNvPr id="3" name="Image 0" descr="Officer review screen with conditions beside the highlighted sour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4023360" cy="3236976"/>
          </a:xfrm>
          <a:prstGeom prst="rect">
            <a:avLst/>
          </a:prstGeom>
        </p:spPr>
      </p:pic>
      <p:pic>
        <p:nvPicPr>
          <p:cNvPr id="4" name="Image 1" descr="Eligibility check screen showing Not eligible with the cited clause">    </p:cNvPr>
          <p:cNvPicPr>
            <a:picLocks noChangeAspect="1"/>
          </p:cNvPicPr>
          <p:nvPr/>
        </p:nvPicPr>
        <p:blipFill>
          <a:blip r:embed="rId2"/>
          <a:srcRect l="-4802" r="-4802" t="0" b="0"/>
          <a:stretch/>
        </p:blipFill>
        <p:spPr>
          <a:xfrm>
            <a:off x="4663440" y="1143000"/>
            <a:ext cx="4023360" cy="32369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review: questions to answer, rejected conditions, boundary tests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check: verdict, each condition coloured, clause highlighted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C1B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one small service, AI only on the authoring path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path (officer)</a:t>
            </a:r>
            <a:endParaRPr lang="en-US" sz="1000" dirty="0"/>
          </a:p>
        </p:txBody>
      </p:sp>
      <p:sp>
        <p:nvSpPr>
          <p:cNvPr id="4" name="notification"/>
          <p:cNvSpPr/>
          <p:nvPr/>
        </p:nvSpPr>
        <p:spPr>
          <a:xfrm>
            <a:off x="457200" y="137160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26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44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0078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or text</a:t>
            </a:r>
            <a:endParaRPr lang="en-US" sz="900" dirty="0"/>
          </a:p>
        </p:txBody>
      </p:sp>
      <p:sp>
        <p:nvSpPr>
          <p:cNvPr id="7" name="extractor"/>
          <p:cNvSpPr/>
          <p:nvPr/>
        </p:nvSpPr>
        <p:spPr>
          <a:xfrm>
            <a:off x="2011680" y="1371600"/>
            <a:ext cx="1463040" cy="777240"/>
          </a:xfrm>
          <a:prstGeom prst="rect">
            <a:avLst/>
          </a:prstGeom>
          <a:solidFill>
            <a:srgbClr val="DFE7F5"/>
          </a:solidFill>
          <a:ln w="15875">
            <a:solidFill>
              <a:srgbClr val="2350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Gemma 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70078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extraction</a:t>
            </a:r>
            <a:endParaRPr lang="en-US" sz="900" dirty="0"/>
          </a:p>
        </p:txBody>
      </p:sp>
      <p:sp>
        <p:nvSpPr>
          <p:cNvPr id="10" name="validator"/>
          <p:cNvSpPr/>
          <p:nvPr/>
        </p:nvSpPr>
        <p:spPr>
          <a:xfrm>
            <a:off x="3703320" y="1371600"/>
            <a:ext cx="14630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26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70078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· units · quote-in-source</a:t>
            </a:r>
            <a:endParaRPr lang="en-US" sz="900" dirty="0"/>
          </a:p>
        </p:txBody>
      </p:sp>
      <p:sp>
        <p:nvSpPr>
          <p:cNvPr id="13" name="review"/>
          <p:cNvSpPr/>
          <p:nvPr/>
        </p:nvSpPr>
        <p:spPr>
          <a:xfrm>
            <a:off x="5394960" y="1371600"/>
            <a:ext cx="1463040" cy="777240"/>
          </a:xfrm>
          <a:prstGeom prst="rect">
            <a:avLst/>
          </a:prstGeom>
          <a:solidFill>
            <a:srgbClr val="DFE7F5"/>
          </a:solidFill>
          <a:ln w="15875">
            <a:solidFill>
              <a:srgbClr val="2350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review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70078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· misread · ambiguous</a:t>
            </a:r>
            <a:endParaRPr lang="en-US" sz="900" dirty="0"/>
          </a:p>
        </p:txBody>
      </p:sp>
      <p:sp>
        <p:nvSpPr>
          <p:cNvPr id="16" name="officer"/>
          <p:cNvSpPr/>
          <p:nvPr/>
        </p:nvSpPr>
        <p:spPr>
          <a:xfrm>
            <a:off x="7086600" y="1371600"/>
            <a:ext cx="1600200" cy="777240"/>
          </a:xfrm>
          <a:prstGeom prst="rect">
            <a:avLst/>
          </a:prstGeom>
          <a:solidFill>
            <a:srgbClr val="F8EBC8"/>
          </a:solidFill>
          <a:ln w="15875">
            <a:solidFill>
              <a:srgbClr val="E0A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444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approves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700784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questions, tests</a:t>
            </a:r>
            <a:endParaRPr lang="en-US" sz="900" dirty="0"/>
          </a:p>
        </p:txBody>
      </p:sp>
      <p:sp>
        <p:nvSpPr>
          <p:cNvPr id="19" name="connector"/>
          <p:cNvSpPr/>
          <p:nvPr/>
        </p:nvSpPr>
        <p:spPr>
          <a:xfrm>
            <a:off x="1783080" y="175564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20" name="connector"/>
          <p:cNvSpPr/>
          <p:nvPr/>
        </p:nvSpPr>
        <p:spPr>
          <a:xfrm>
            <a:off x="3474720" y="175564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21" name="connector"/>
          <p:cNvSpPr/>
          <p:nvPr/>
        </p:nvSpPr>
        <p:spPr>
          <a:xfrm>
            <a:off x="5166360" y="175564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22" name="connector"/>
          <p:cNvSpPr/>
          <p:nvPr/>
        </p:nvSpPr>
        <p:spPr>
          <a:xfrm>
            <a:off x="6858000" y="175564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23" name="rulebook"/>
          <p:cNvSpPr/>
          <p:nvPr/>
        </p:nvSpPr>
        <p:spPr>
          <a:xfrm>
            <a:off x="7086600" y="2212848"/>
            <a:ext cx="1600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226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2286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Rulebook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542032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versioned, SQLite</a:t>
            </a:r>
            <a:endParaRPr lang="en-US" sz="900" dirty="0"/>
          </a:p>
        </p:txBody>
      </p:sp>
      <p:sp>
        <p:nvSpPr>
          <p:cNvPr id="26" name="connector"/>
          <p:cNvSpPr/>
          <p:nvPr/>
        </p:nvSpPr>
        <p:spPr>
          <a:xfrm>
            <a:off x="7882128" y="2148840"/>
            <a:ext cx="0" cy="64008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27" name="rules to evaluator"/>
          <p:cNvSpPr/>
          <p:nvPr/>
        </p:nvSpPr>
        <p:spPr>
          <a:xfrm>
            <a:off x="3017520" y="2468880"/>
            <a:ext cx="406908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</a:ln>
        </p:spPr>
      </p:sp>
      <p:sp>
        <p:nvSpPr>
          <p:cNvPr id="28" name="connector"/>
          <p:cNvSpPr/>
          <p:nvPr/>
        </p:nvSpPr>
        <p:spPr>
          <a:xfrm>
            <a:off x="3017520" y="2468880"/>
            <a:ext cx="0" cy="45720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572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path (citizen, operator): no AI</a:t>
            </a:r>
            <a:endParaRPr lang="en-US" sz="1000" dirty="0"/>
          </a:p>
        </p:txBody>
      </p:sp>
      <p:sp>
        <p:nvSpPr>
          <p:cNvPr id="30" name="applicant"/>
          <p:cNvSpPr/>
          <p:nvPr/>
        </p:nvSpPr>
        <p:spPr>
          <a:xfrm>
            <a:off x="457200" y="2926080"/>
            <a:ext cx="13258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226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9992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details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25526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form or API</a:t>
            </a:r>
            <a:endParaRPr lang="en-US" sz="900" dirty="0"/>
          </a:p>
        </p:txBody>
      </p:sp>
      <p:sp>
        <p:nvSpPr>
          <p:cNvPr id="33" name="evaluator"/>
          <p:cNvSpPr/>
          <p:nvPr/>
        </p:nvSpPr>
        <p:spPr>
          <a:xfrm>
            <a:off x="2011680" y="2926080"/>
            <a:ext cx="2011680" cy="777240"/>
          </a:xfrm>
          <a:prstGeom prst="rect">
            <a:avLst/>
          </a:prstGeom>
          <a:solidFill>
            <a:srgbClr val="DCEEE3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0312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evaluator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325526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three-valued logic over ALL/ANY groups</a:t>
            </a:r>
            <a:endParaRPr lang="en-US" sz="900" dirty="0"/>
          </a:p>
        </p:txBody>
      </p:sp>
      <p:sp>
        <p:nvSpPr>
          <p:cNvPr id="36" name="verdict"/>
          <p:cNvSpPr/>
          <p:nvPr/>
        </p:nvSpPr>
        <p:spPr>
          <a:xfrm>
            <a:off x="4251960" y="2926080"/>
            <a:ext cx="2011680" cy="777240"/>
          </a:xfrm>
          <a:prstGeom prst="rect">
            <a:avLst/>
          </a:prstGeom>
          <a:solidFill>
            <a:srgbClr val="DCEEE3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+ citations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343400" y="325526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· Not eligible · Needs info</a:t>
            </a:r>
            <a:endParaRPr lang="en-US" sz="900" dirty="0"/>
          </a:p>
        </p:txBody>
      </p:sp>
      <p:sp>
        <p:nvSpPr>
          <p:cNvPr id="39" name="explainer"/>
          <p:cNvSpPr/>
          <p:nvPr/>
        </p:nvSpPr>
        <p:spPr>
          <a:xfrm>
            <a:off x="6492240" y="2926080"/>
            <a:ext cx="2194560" cy="777240"/>
          </a:xfrm>
          <a:prstGeom prst="rect">
            <a:avLst/>
          </a:prstGeom>
          <a:solidFill>
            <a:srgbClr val="DFE7F5"/>
          </a:solidFill>
          <a:ln w="15875">
            <a:solidFill>
              <a:srgbClr val="2350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0" y="2999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/ Punjabi wording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3255264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verdict-checked</a:t>
            </a:r>
            <a:endParaRPr lang="en-US" sz="900" dirty="0"/>
          </a:p>
        </p:txBody>
      </p:sp>
      <p:sp>
        <p:nvSpPr>
          <p:cNvPr id="42" name="connector"/>
          <p:cNvSpPr/>
          <p:nvPr/>
        </p:nvSpPr>
        <p:spPr>
          <a:xfrm>
            <a:off x="1783080" y="331012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43" name="connector"/>
          <p:cNvSpPr/>
          <p:nvPr/>
        </p:nvSpPr>
        <p:spPr>
          <a:xfrm>
            <a:off x="4023360" y="331012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44" name="connector"/>
          <p:cNvSpPr/>
          <p:nvPr/>
        </p:nvSpPr>
        <p:spPr>
          <a:xfrm>
            <a:off x="6263640" y="3310128"/>
            <a:ext cx="228600" cy="0"/>
          </a:xfrm>
          <a:prstGeom prst="line">
            <a:avLst/>
          </a:prstGeom>
          <a:noFill/>
          <a:ln w="15875">
            <a:solidFill>
              <a:srgbClr val="5A5F66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Interfaces: React web app · FastAPI REST API · paatrata CLI · Python library · Agent Skill. One Docker image, Cloud Run ready.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AI does the reading. Open weights make it deployable anywhere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Google AI works</a:t>
            </a:r>
            <a:endParaRPr lang="en-US" sz="1300" dirty="0"/>
          </a:p>
        </p:txBody>
      </p:sp>
      <p:sp>
        <p:nvSpPr>
          <p:cNvPr id="4" name="square"/>
          <p:cNvSpPr/>
          <p:nvPr/>
        </p:nvSpPr>
        <p:spPr>
          <a:xfrm>
            <a:off x="457200" y="1527048"/>
            <a:ext cx="128016" cy="128016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813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API, structured output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09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→ typed condition with quote, page, confidence, question</a:t>
            </a:r>
            <a:endParaRPr lang="en-US" sz="1000" dirty="0"/>
          </a:p>
        </p:txBody>
      </p:sp>
      <p:sp>
        <p:nvSpPr>
          <p:cNvPr id="7" name="square"/>
          <p:cNvSpPr/>
          <p:nvPr/>
        </p:nvSpPr>
        <p:spPr>
          <a:xfrm>
            <a:off x="457200" y="2075688"/>
            <a:ext cx="128016" cy="128016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02996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API, second pass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58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missing, misread and ambiguous conditions</a:t>
            </a:r>
            <a:endParaRPr lang="en-US" sz="1000" dirty="0"/>
          </a:p>
        </p:txBody>
      </p:sp>
      <p:sp>
        <p:nvSpPr>
          <p:cNvPr id="10" name="square"/>
          <p:cNvSpPr/>
          <p:nvPr/>
        </p:nvSpPr>
        <p:spPr>
          <a:xfrm>
            <a:off x="457200" y="2624328"/>
            <a:ext cx="128016" cy="128016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5786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multimodal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807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scanned PDFs that have no text layer</a:t>
            </a:r>
            <a:endParaRPr lang="en-US" sz="1000" dirty="0"/>
          </a:p>
        </p:txBody>
      </p:sp>
      <p:sp>
        <p:nvSpPr>
          <p:cNvPr id="13" name="square"/>
          <p:cNvSpPr/>
          <p:nvPr/>
        </p:nvSpPr>
        <p:spPr>
          <a:xfrm>
            <a:off x="457200" y="3172968"/>
            <a:ext cx="128016" cy="128016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1272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355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and Punjabi explanations, checked against the verdict</a:t>
            </a:r>
            <a:endParaRPr lang="en-US" sz="1000" dirty="0"/>
          </a:p>
        </p:txBody>
      </p:sp>
      <p:sp>
        <p:nvSpPr>
          <p:cNvPr id="16" name="square"/>
          <p:cNvSpPr/>
          <p:nvPr/>
        </p:nvSpPr>
        <p:spPr>
          <a:xfrm>
            <a:off x="457200" y="3721608"/>
            <a:ext cx="128016" cy="128016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6758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via AI Studio / Ollama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904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compiler on open weights, for on-premise departments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Never: deciding who is eligible. That is always approved rules + code.</a:t>
            </a:r>
            <a:endParaRPr lang="en-US" sz="1050" dirty="0"/>
          </a:p>
        </p:txBody>
      </p:sp>
      <p:sp>
        <p:nvSpPr>
          <p:cNvPr id="20" name="bonus panel"/>
          <p:cNvSpPr/>
          <p:nvPr/>
        </p:nvSpPr>
        <p:spPr>
          <a:xfrm>
            <a:off x="5532120" y="1143000"/>
            <a:ext cx="3154680" cy="3429000"/>
          </a:xfrm>
          <a:prstGeom prst="rect">
            <a:avLst/>
          </a:prstGeom>
          <a:solidFill>
            <a:srgbClr val="F7F6F3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open-source AI</a:t>
            </a:r>
            <a:endParaRPr lang="en-US" sz="1300" dirty="0"/>
          </a:p>
        </p:txBody>
      </p:sp>
      <p:sp>
        <p:nvSpPr>
          <p:cNvPr id="22" name="square"/>
          <p:cNvSpPr/>
          <p:nvPr/>
        </p:nvSpPr>
        <p:spPr>
          <a:xfrm>
            <a:off x="5760720" y="1737360"/>
            <a:ext cx="128016" cy="1280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(Apache-2.0) as a real extraction backend</a:t>
            </a:r>
            <a:endParaRPr lang="en-US" sz="1050" dirty="0"/>
          </a:p>
        </p:txBody>
      </p:sp>
      <p:sp>
        <p:nvSpPr>
          <p:cNvPr id="24" name="square"/>
          <p:cNvSpPr/>
          <p:nvPr/>
        </p:nvSpPr>
        <p:spPr>
          <a:xfrm>
            <a:off x="5760720" y="2286000"/>
            <a:ext cx="128016" cy="1280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 in the Agent Skill Open Standard format</a:t>
            </a:r>
            <a:endParaRPr lang="en-US" sz="1050" dirty="0"/>
          </a:p>
        </p:txBody>
      </p:sp>
      <p:sp>
        <p:nvSpPr>
          <p:cNvPr id="26" name="square"/>
          <p:cNvSpPr/>
          <p:nvPr/>
        </p:nvSpPr>
        <p:spPr>
          <a:xfrm>
            <a:off x="5760720" y="2834640"/>
            <a:ext cx="128016" cy="1280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paatrata_core: reusable library with schema, validator, evaluator, test generator</a:t>
            </a:r>
            <a:endParaRPr lang="en-US" sz="1050" dirty="0"/>
          </a:p>
        </p:txBody>
      </p:sp>
      <p:sp>
        <p:nvSpPr>
          <p:cNvPr id="28" name="square"/>
          <p:cNvSpPr/>
          <p:nvPr/>
        </p:nvSpPr>
        <p:spPr>
          <a:xfrm>
            <a:off x="5760720" y="3383280"/>
            <a:ext cx="128016" cy="1280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harness with a public answer-key format</a:t>
            </a:r>
            <a:endParaRPr lang="en-US" sz="1050" dirty="0"/>
          </a:p>
        </p:txBody>
      </p:sp>
      <p:sp>
        <p:nvSpPr>
          <p:cNvPr id="30" name="square"/>
          <p:cNvSpPr/>
          <p:nvPr/>
        </p:nvSpPr>
        <p:spPr>
          <a:xfrm>
            <a:off x="5760720" y="3931920"/>
            <a:ext cx="128016" cy="1280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GitHub repo, Apache-2.0; 60 offline tests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 against hand-labelled rules, versus a plain RAG chatbot</a:t>
            </a:r>
            <a:endParaRPr lang="en-US" sz="2000" dirty="0"/>
          </a:p>
        </p:txBody>
      </p:sp>
      <p:sp>
        <p:nvSpPr>
          <p:cNvPr id="3" name="results pending"/>
          <p:cNvSpPr/>
          <p:nvPr/>
        </p:nvSpPr>
        <p:spPr>
          <a:xfrm>
            <a:off x="457200" y="1234440"/>
            <a:ext cx="8229600" cy="1280160"/>
          </a:xfrm>
          <a:prstGeom prst="rect">
            <a:avLst/>
          </a:prstGeom>
          <a:solidFill>
            <a:srgbClr val="F8EBC8"/>
          </a:solidFill>
          <a:ln w="9525">
            <a:solidFill>
              <a:srgbClr val="CFCB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D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pending the final evaluation run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D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 python -m evaluation.run_eval --live --review  then  node deck/build.js  to fill this slide with measured numbers.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F1  </a:t>
            </a:r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field, operator, value vs answer key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verified  </a:t>
            </a:r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citations found in the document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accuracy  </a:t>
            </a:r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cases + 300 synthetic applicants per scheme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 </a:t>
            </a:r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question, repeated runs (baseline)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Applicants are synthetic and answer keys are team-labelled: results measure agreement with those labels, not real-world accuracy.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F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in weeks, then scale to any state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weeks</a:t>
            </a:r>
            <a:endParaRPr lang="en-US" sz="1400" dirty="0"/>
          </a:p>
        </p:txBody>
      </p:sp>
      <p:sp>
        <p:nvSpPr>
          <p:cNvPr id="4" name="pilot step"/>
          <p:cNvSpPr/>
          <p:nvPr/>
        </p:nvSpPr>
        <p:spPr>
          <a:xfrm>
            <a:off x="457200" y="1554480"/>
            <a:ext cx="384048" cy="38404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81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the department's current notifications</a:t>
            </a:r>
            <a:endParaRPr lang="en-US" sz="1200" dirty="0"/>
          </a:p>
        </p:txBody>
      </p:sp>
      <p:sp>
        <p:nvSpPr>
          <p:cNvPr id="7" name="pilot step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267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Compile, review and approve with its own officers</a:t>
            </a:r>
            <a:endParaRPr lang="en-US" sz="1200" dirty="0"/>
          </a:p>
        </p:txBody>
      </p:sp>
      <p:sp>
        <p:nvSpPr>
          <p:cNvPr id="10" name="pilot step"/>
          <p:cNvSpPr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535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helpdesk or Sampark counter the read-only checker</a:t>
            </a:r>
            <a:endParaRPr lang="en-US" sz="1200" dirty="0"/>
          </a:p>
        </p:txBody>
      </p:sp>
      <p:sp>
        <p:nvSpPr>
          <p:cNvPr id="13" name="pilot step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639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answers with past applications, then widen</a:t>
            </a:r>
            <a:endParaRPr lang="en-US" sz="1200" dirty="0"/>
          </a:p>
        </p:txBody>
      </p:sp>
      <p:pic>
        <p:nvPicPr>
          <p:cNvPr id="16" name="Image 0" descr="Open Hand Monument, Chandigar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143000"/>
            <a:ext cx="3886200" cy="1828800"/>
          </a:xfrm>
          <a:prstGeom prst="rect">
            <a:avLst/>
          </a:prstGeom>
        </p:spPr>
      </p:pic>
      <p:sp>
        <p:nvSpPr>
          <p:cNvPr id="17" name="photo credit"/>
          <p:cNvSpPr txBox="1"/>
          <p:nvPr/>
        </p:nvSpPr>
        <p:spPr>
          <a:xfrm>
            <a:off x="4800600" y="29992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Hand Monument. Photo: Raakesh Blokhra, CC BY-SA 2.0, via Wikimedia Commons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329184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across India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CE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and ministry publishes schemes as notifications. The vocabulary, compiler and engine are scheme-agnostic; Gemini reads Hindi and other Indian languages; one Docker image runs on Cloud Run.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C1B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Next: from six schemes to a shared, verified rulebook</a:t>
            </a:r>
            <a:endParaRPr lang="en-US" sz="2000" dirty="0"/>
          </a:p>
        </p:txBody>
      </p:sp>
      <p:sp>
        <p:nvSpPr>
          <p:cNvPr id="3" name="square"/>
          <p:cNvSpPr/>
          <p:nvPr/>
        </p:nvSpPr>
        <p:spPr>
          <a:xfrm>
            <a:off x="457200" y="1243584"/>
            <a:ext cx="146304" cy="146304"/>
          </a:xfrm>
          <a:prstGeom prst="rect">
            <a:avLst/>
          </a:prstGeom>
          <a:solidFill>
            <a:srgbClr val="2350A0"/>
          </a:solidFill>
          <a:ln w="12700">
            <a:solidFill>
              <a:srgbClr val="2350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delta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a new circular against the approved rules; show exactly what changed and for whom.</a:t>
            </a:r>
            <a:endParaRPr lang="en-US" sz="1050" dirty="0"/>
          </a:p>
        </p:txBody>
      </p:sp>
      <p:sp>
        <p:nvSpPr>
          <p:cNvPr id="6" name="square"/>
          <p:cNvSpPr/>
          <p:nvPr/>
        </p:nvSpPr>
        <p:spPr>
          <a:xfrm>
            <a:off x="4617720" y="1243584"/>
            <a:ext cx="146304" cy="146304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notifications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490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PDFs for every Chandigarh scheme, including Hindi-only sources.</a:t>
            </a:r>
            <a:endParaRPr lang="en-US" sz="1050" dirty="0"/>
          </a:p>
        </p:txBody>
      </p:sp>
      <p:sp>
        <p:nvSpPr>
          <p:cNvPr id="9" name="square"/>
          <p:cNvSpPr/>
          <p:nvPr/>
        </p:nvSpPr>
        <p:spPr>
          <a:xfrm>
            <a:off x="457200" y="2295144"/>
            <a:ext cx="146304" cy="1463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measured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420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on-premise accuracy for departments that keep documents in-house.</a:t>
            </a:r>
            <a:endParaRPr lang="en-US" sz="1050" dirty="0"/>
          </a:p>
        </p:txBody>
      </p:sp>
      <p:sp>
        <p:nvSpPr>
          <p:cNvPr id="12" name="square"/>
          <p:cNvSpPr/>
          <p:nvPr/>
        </p:nvSpPr>
        <p:spPr>
          <a:xfrm>
            <a:off x="4617720" y="2295144"/>
            <a:ext cx="146304" cy="146304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language, every counter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5420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C1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and Punjabi across the interface; voice input at Sampark counters.</a:t>
            </a:r>
            <a:endParaRPr lang="en-US" sz="1050" dirty="0"/>
          </a:p>
        </p:txBody>
      </p:sp>
      <p:sp>
        <p:nvSpPr>
          <p:cNvPr id="15" name="closing band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2226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reads once. Code decides every time.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paatrata.onrender.com  |  github.com/ipshitabhardwaj/Paatrata  |  Apache-2.0  |  team clawops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4C1B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Code for Communities Chandigarh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Paatrata: welfare rules anyone can check</dc:title>
  <dc:subject>PptxGenJS Presentation</dc:subject>
  <dc:creator>Team clawops</dc:creator>
  <cp:lastModifiedBy>Team clawops</cp:lastModifiedBy>
  <cp:revision>1</cp:revision>
  <dcterms:created xsi:type="dcterms:W3CDTF">2026-10-12T13:32:34Z</dcterms:created>
  <dcterms:modified xsi:type="dcterms:W3CDTF">2026-10-12T13:32:34Z</dcterms:modified>
</cp:coreProperties>
</file>